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开场强调：本文不是普通 CVaR RL，而是问 CVaR 在模型不确定时是否仍然稳健，并进一步处理决策会改变不确定性的情况。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这一页是整篇文章的总括。先说对象：强化学习里转移概率不一定准；再说目标：不是平均最优，而是控制尾部损失；然后说难点：模型最坏情形和 CVaR 尾部最坏情形叠加；最后说解决路线：固定预算可化成 CVaR/EVaR，决策相关预算用 NCVaR 和动态规划处理。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这一页是面向所有人的术语翻译。对非专业听众，强调 MDP 就是连续决策，CVaR 就是只看坏结果平均有多坏，ambiguity set 就是真实模型允许偏离名义模型的范围。对专业听众，可以补充：RMDP 是对转移核做 worst-case，CVaR/EVaR 都可由对偶集合表征，κ(x,a) 是 decision-dependent uncertainty 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这里承接术语页。可以用一个直观例子讲：如果自动驾驶或机器人知道地图不完全准确，同时撞上障碍代价很高，那么平均最短路径不一定可靠。RMDP 只处理地图不准，CVaR 只处理坏结果，本文要把两者连起来。专业听众关心的是这个目标是否能化成可计算的动态规划，后面几页回答这个问题。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这一页用于解释数学目标。强调 max 和 CVaR 的双重保守性。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 Figure 1b 的设计：不是重新发明一个算法，而是利用等价关系读更小 α 的 CVaR 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 1c 为什么和 1b 不同：RN 是密度比上界，KL 是相对熵球，风险度量也从 CVaR 变成 EVaR。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这里要突出 NCVaR 的必要性。固定 K 代表全环境同等不确定，因此可以直接调小 α。κ(x,a) 则表示不确定性由当前状态和动作决定，比如靠近障碍或采取激进动作时模型更不可靠。策略选择会影响未来遇到的 κ，所以必须把 κ 序列写进风险度量。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这一页是方法核心。强调 y 是增广维度，ξ 是密度比扰动，右侧置信水平随后继状态变。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解释实现细节：不是对 V 直接插值，而是对 yV 插值，这是论文为了保持凹性和 tractability 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回答实验为什么这样设计：同一个环境、同一 α，逐步改变不确定性集合，才能展示鲁棒性设定如何改变策略路径。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提示听众按 a-b-c-d 顺序看：从无不确定性到固定预算，再到决策相关不确定性，路径整体更风险规避。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这页要讲清楚验证方式和局限：实验设计服务于说明方法行为，而不是展示大规模泛化能力。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结尾强调贡献和边界：本文最有价值的是问题重写和 NCVaR 框架，而不是 GridWorld 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这一页是答辩页。不要把它讲成缺陷清单，而是讲清边界：本文的理论贡献在于目标重写和 NCVaR 分解；实验是概念验证；κ 的来源、连续状态扩展和大规模深度 RL 是自然后续问题。面对专业人士追问时，要把已证明的部分和未解决的部分分开。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结尾时不要再堆公式。用三句话收束：第一，问题来自现实中的模型误差和尾部损失；第二，固定不确定预算可以通过 CVaR/EVaR 对偶处理；第三，决策相关不确定性需要 NCVaR。这样非专业听众能抓住直觉，专业听众也能看到理论贡献在哪里。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863840" cy="10972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31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鲁棒风险敏感强化学习：</a:t>
            </a:r>
            <a:br/>
            <a:r>
              <a:rPr>
                <a:latin typeface="Times New Roman"/>
                <a:ea typeface="SimSun"/>
                <a:cs typeface="Times New Roman"/>
              </a:rPr>
              <a:t>从 CVaR 到 NCVaR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01952"/>
            <a:ext cx="768096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3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Robust Risk-Sensitive Reinforcement Learning with Conditional Value-at-Risk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880360"/>
            <a:ext cx="2834640" cy="9601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990088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这篇文章在做什么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291840"/>
            <a:ext cx="256032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研究模型不确定下的</a:t>
            </a:r>
            <a:br/>
            <a:r>
              <a:rPr>
                <a:latin typeface="Times New Roman"/>
                <a:ea typeface="SimSun"/>
                <a:cs typeface="Times New Roman"/>
              </a:rPr>
              <a:t>风险敏感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880360"/>
            <a:ext cx="2834640" cy="9601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1064" y="2990088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核心工具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4" y="3291840"/>
            <a:ext cx="256032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固定预算：CVaR/EVaR</a:t>
            </a:r>
            <a:br/>
            <a:r>
              <a:rPr>
                <a:latin typeface="Times New Roman"/>
                <a:ea typeface="SimSun"/>
                <a:cs typeface="Times New Roman"/>
              </a:rPr>
              <a:t>决策相关：NCVaR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2880360"/>
            <a:ext cx="2834640" cy="9601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2990088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验证场景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3291840"/>
            <a:ext cx="256032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64×53 GridWorld</a:t>
            </a:r>
            <a:br/>
            <a:r>
              <a:rPr>
                <a:latin typeface="Times New Roman"/>
                <a:ea typeface="SimSun"/>
                <a:cs typeface="Times New Roman"/>
              </a:rPr>
              <a:t>比较四种不确定性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144768"/>
            <a:ext cx="1051560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8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Xinyi Ni, Lifeng Lai · IEEE ITW 2024 · DOI: 10.1109/ITW61385.2024.10806953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一页讲清楚：这篇文章到底在做什么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p.1 Introduction；p.2-p.5 Method and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709160" cy="123444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435607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研究对象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737360"/>
            <a:ext cx="4434840" cy="7315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在 MDP/RL 中，转移概率 P 往往来自估计。</a:t>
            </a:r>
            <a:br/>
            <a:r>
              <a:rPr>
                <a:latin typeface="Times New Roman"/>
                <a:ea typeface="SimSun"/>
                <a:cs typeface="Times New Roman"/>
              </a:rPr>
              <a:t>如果 P 错了，原来最优的策略可能在真实环境里很危险。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4709160" cy="123444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435607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风险目标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4434840" cy="7315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文章不是只最小化平均代价，而是最小化 CVaR：</a:t>
            </a:r>
            <a:br/>
            <a:r>
              <a:rPr>
                <a:latin typeface="Times New Roman"/>
                <a:ea typeface="SimSun"/>
                <a:cs typeface="Times New Roman"/>
              </a:rPr>
              <a:t>关注最坏一部分轨迹中的累计代价。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4709160" cy="1298448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081528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核心问题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383280"/>
            <a:ext cx="44348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把“模型最坏情形”与“尾部风险最坏情形”放在一起：</a:t>
            </a:r>
            <a:br/>
            <a:r>
              <a:rPr>
                <a:latin typeface="Times New Roman"/>
                <a:ea typeface="SimSun"/>
                <a:cs typeface="Times New Roman"/>
              </a:rPr>
              <a:t>minπ maxP~ CVaRα[discounted cost]。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71800"/>
            <a:ext cx="4709160" cy="1298448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3081528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解决路线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383280"/>
            <a:ext cx="44348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固定不确定预算：转成 CVaR/EVaR。</a:t>
            </a:r>
            <a:br/>
            <a:r>
              <a:rPr>
                <a:latin typeface="Times New Roman"/>
                <a:ea typeface="SimSun"/>
                <a:cs typeface="Times New Roman"/>
              </a:rPr>
              <a:t>决策相关预算：提出 NCVaR，并给出 value iteration。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10241280" cy="38404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52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一句话：这篇文章把“模型不确定性”与“尾部风险控制”统一到一个可计算的风险敏感强化学习框架中。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来源：p.1 Introduction；p.2 Eq.1-Eq.2；p.3 Section III；p.4 Theorem 1；p.5 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先统一语言：本文反复出现的 6 个术语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p.1-p.4 definitions and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3383280" cy="9601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MDP / 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通俗：人在环境里连续做决策。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专业：状态 x、动作 a、转移 P、代价 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234440"/>
            <a:ext cx="3383280" cy="96012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4416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CVaRα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64592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通俗：只看最坏一部分结果。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专业：分布尾部 α 分位的条件期望。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234440"/>
            <a:ext cx="3383280" cy="9601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34416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RMDP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64592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通俗：承认模型会错。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专业：在 uncertainty set 内做 worst-case 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3383280" cy="960120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ambiguity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20040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19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通俗：真实模型允许偏离名义模型的范围。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专业：由 divergence ball 定义的 P~ 集合。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2788920"/>
            <a:ext cx="3383280" cy="96012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89864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EVaR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20040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19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通俗：比 CVaR 更紧的尾部风险上界。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专业：KL ball 对偶对应的风险度量。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2788920"/>
            <a:ext cx="3383280" cy="96012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89864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NCVaR / 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200400"/>
            <a:ext cx="3108960" cy="4572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19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通俗：不同决策有不同不确定性。</a:t>
            </a:r>
            <a:br/>
            <a:r>
              <a:rPr>
                <a:latin typeface="Times New Roman"/>
                <a:ea typeface="SimSun"/>
                <a:cs typeface="Times New Roman"/>
              </a:rPr>
              <a:t>专业：κ(x,a) 进入风险度量并随路径变化。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5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听众只需抓住主线：模型可能错，坏结果很重要；本文用风险度量把两者合起来。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来源：p.1 Introduction；p.2 CVaR/EVaR；p.2 Eq.1 ambiguity set；p.3-p.4 NCVaR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为什么要做：已有两条路线各缺一半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p.1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154680" cy="14173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路线 A：RMDP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2880360" cy="9144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6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能处理模型不准，</a:t>
            </a:r>
            <a:br/>
            <a:r>
              <a:rPr>
                <a:latin typeface="Times New Roman"/>
                <a:ea typeface="SimSun"/>
                <a:cs typeface="Times New Roman"/>
              </a:rPr>
              <a:t>但多优化平均代价；</a:t>
            </a:r>
            <a:br/>
            <a:r>
              <a:rPr>
                <a:latin typeface="Times New Roman"/>
                <a:ea typeface="SimSun"/>
                <a:cs typeface="Times New Roman"/>
              </a:rPr>
              <a:t>坏结果有多坏不突出。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154680" cy="141732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路线 B：CVaR 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737360"/>
            <a:ext cx="2880360" cy="9144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6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能处理尾部风险，</a:t>
            </a:r>
            <a:br/>
            <a:r>
              <a:rPr>
                <a:latin typeface="Times New Roman"/>
                <a:ea typeface="SimSun"/>
                <a:cs typeface="Times New Roman"/>
              </a:rPr>
              <a:t>但常假设转移模型 P 固定；</a:t>
            </a:r>
            <a:br/>
            <a:r>
              <a:rPr>
                <a:latin typeface="Times New Roman"/>
                <a:ea typeface="SimSun"/>
                <a:cs typeface="Times New Roman"/>
              </a:rPr>
              <a:t>模型误差不突出。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154680" cy="141732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本文缺口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737360"/>
            <a:ext cx="2880360" cy="9144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6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如果模型也不准、</a:t>
            </a:r>
            <a:br/>
            <a:r>
              <a:rPr>
                <a:latin typeface="Times New Roman"/>
                <a:ea typeface="SimSun"/>
                <a:cs typeface="Times New Roman"/>
              </a:rPr>
              <a:t>坏结果也重要，</a:t>
            </a:r>
            <a:br/>
            <a:r>
              <a:rPr>
                <a:latin typeface="Times New Roman"/>
                <a:ea typeface="SimSun"/>
                <a:cs typeface="Times New Roman"/>
              </a:rPr>
              <a:t>如何统一优化？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10241280" cy="16459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27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面向非专业听众：这是“地图不准 + 事故代价高”时如何规划路线的问题。</a:t>
            </a:r>
          </a:p>
          <a:p>
            <a:pPr>
              <a:spcAft>
                <a:spcPts val="500"/>
              </a:spcAft>
              <a:defRPr sz="127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面向专业听众：这是 minπ maxP~ CVaRα 目标的等价表示与 Bellman 可解性问题。</a:t>
            </a:r>
          </a:p>
          <a:p>
            <a:pPr>
              <a:spcAft>
                <a:spcPts val="500"/>
              </a:spcAft>
              <a:defRPr sz="127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本文贡献不是只做 GridWorld，而是把固定预算和决策相关预算分别纳入风险度量。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来源：p.1 Introduction；p.3 Section III；p.4 Section 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问题形式：在所有可能转移中最小化最坏 CVaR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p.2 Eq.1；p.2 Eq.2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649224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1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目标：minπ maxP~ CVaRα[Σ γᵗ C(xₜ,aₜ)]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66360" cy="16002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 是名义转移；P~ 是 ambiguity set 中可能真实发生的转移。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φ-divergence 负责规定 P~ 离 P 可以有多远。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CVaRα 只看累计代价分布中最坏 α 比例的尾部。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353312"/>
            <a:ext cx="4343400" cy="2057400"/>
          </a:xfrm>
          <a:prstGeom prst="roundRect">
            <a:avLst/>
          </a:prstGeom>
          <a:solidFill>
            <a:srgbClr val="EBF2F6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84264" y="1463040"/>
            <a:ext cx="40690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逐层读公式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4264" y="1764792"/>
            <a:ext cx="4069080" cy="15544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minπ：我们选策略</a:t>
            </a:r>
            <a:br/>
            <a:r>
              <a:rPr>
                <a:latin typeface="Times New Roman"/>
                <a:ea typeface="SimSun"/>
                <a:cs typeface="Times New Roman"/>
              </a:rPr>
              <a:t>maxP~：自然选择最坏模型</a:t>
            </a:r>
            <a:br/>
            <a:r>
              <a:rPr>
                <a:latin typeface="Times New Roman"/>
                <a:ea typeface="SimSun"/>
                <a:cs typeface="Times New Roman"/>
              </a:rPr>
              <a:t>CVaRα：只评价尾部坏结果</a:t>
            </a:r>
            <a:br/>
            <a:r>
              <a:rPr>
                <a:latin typeface="Times New Roman"/>
                <a:ea typeface="SimSun"/>
                <a:cs typeface="Times New Roman"/>
              </a:rPr>
              <a:t>ΣγᵗC：折扣累计代价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9875520" cy="786384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453128"/>
            <a:ext cx="960120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一句话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754880"/>
            <a:ext cx="9601200" cy="283463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6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论文优化的不是“平均情况下走得短”，而是“模型估错、坏结果发生时，策略仍尽量不付出极端代价”。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来源：p.2 Eq.1 ambiguity set；p.2 Eq.2 robust CVaR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 RN 预算：鲁棒 CVaR 退化为更小置信水平的 CVaR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p.3 Section III-A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53312"/>
            <a:ext cx="694944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2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DRN(P~,P) ∈ [0,K]  ⇒  α′CVaR = α /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394960" cy="16459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RN derivative 控制概率密度比上界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 K 可合并两层 worst-case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Figure 1b 取 α=0.48, K=2，因此 α′=0.24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828800"/>
            <a:ext cx="3383280" cy="132588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1938528"/>
            <a:ext cx="31089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直觉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2240280"/>
            <a:ext cx="31089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K 越大，等价 α′ 越小</a:t>
            </a:r>
            <a:br/>
            <a:r>
              <a:rPr>
                <a:latin typeface="Times New Roman"/>
                <a:ea typeface="SimSun"/>
                <a:cs typeface="Times New Roman"/>
              </a:rPr>
              <a:t>策略越关注更极端尾部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来源：p.3 Eq.5；p.5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 KL 预算：通过 EVaR 对偶处理指数尾部风险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p.2 EVaR 定义；p.3 Section III-B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658368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2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DKL(Q,P) ≤ −ln α′  ⇔  EVaRα′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5212080" cy="1508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KL ambiguity 约束分布偏离程度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EVaR 的对偶集合正是 KL ball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Figure 1c 报告 α′EVaR=0.03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508760"/>
            <a:ext cx="3749039" cy="210312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67144" y="1618488"/>
            <a:ext cx="347472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为什么更保守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7144" y="1920240"/>
            <a:ext cx="3474720" cy="160019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KL 允许概率质量</a:t>
            </a:r>
            <a:br/>
            <a:r>
              <a:rPr>
                <a:latin typeface="Times New Roman"/>
                <a:ea typeface="SimSun"/>
                <a:cs typeface="Times New Roman"/>
              </a:rPr>
              <a:t>向高代价结果倾斜；</a:t>
            </a:r>
            <a:br/>
            <a:r>
              <a:rPr>
                <a:latin typeface="Times New Roman"/>
                <a:ea typeface="SimSun"/>
                <a:cs typeface="Times New Roman"/>
              </a:rPr>
              <a:t>EVaR 对尾部更敏感，</a:t>
            </a:r>
            <a:br/>
            <a:r>
              <a:rPr>
                <a:latin typeface="Times New Roman"/>
                <a:ea typeface="SimSun"/>
                <a:cs typeface="Times New Roman"/>
              </a:rPr>
              <a:t>通常比 CVaR 更保守。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来源：p.2 EVaR dual representation；p.3 Eq.6；p.5 α′EVaR=0.03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为什么需要 NCVaR：不确定性会被决策本身改变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p.3-p.4 Section IV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926080" cy="132588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435607"/>
            <a:ext cx="26517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固定预算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737360"/>
            <a:ext cx="26517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所有状态动作共用一个 K。</a:t>
            </a:r>
            <a:br/>
            <a:r>
              <a:rPr>
                <a:latin typeface="Times New Roman"/>
                <a:ea typeface="SimSun"/>
                <a:cs typeface="Times New Roman"/>
              </a:rPr>
              <a:t>最坏情形只会把 α 缩小，</a:t>
            </a:r>
            <a:br/>
            <a:r>
              <a:rPr>
                <a:latin typeface="Times New Roman"/>
                <a:ea typeface="SimSun"/>
                <a:cs typeface="Times New Roman"/>
              </a:rPr>
              <a:t>所以可化成普通 CVaR。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2926080" cy="132588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435607"/>
            <a:ext cx="26517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决策相关 κ(x,a)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737360"/>
            <a:ext cx="26517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某些动作更不确定，</a:t>
            </a:r>
            <a:br/>
            <a:r>
              <a:rPr>
                <a:latin typeface="Times New Roman"/>
                <a:ea typeface="SimSun"/>
                <a:cs typeface="Times New Roman"/>
              </a:rPr>
              <a:t>某些区域模型更不可靠。</a:t>
            </a:r>
            <a:br/>
            <a:r>
              <a:rPr>
                <a:latin typeface="Times New Roman"/>
                <a:ea typeface="SimSun"/>
                <a:cs typeface="Times New Roman"/>
              </a:rPr>
              <a:t>预算随策略路径变化。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2926080" cy="132588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435607"/>
            <a:ext cx="26517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NCVaR 的作用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737360"/>
            <a:ext cx="26517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5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把一串 κ(x,a) 放进</a:t>
            </a:r>
            <a:br/>
            <a:r>
              <a:rPr>
                <a:latin typeface="Times New Roman"/>
                <a:ea typeface="SimSun"/>
                <a:cs typeface="Times New Roman"/>
              </a:rPr>
              <a:t>风险度量本身，描述</a:t>
            </a:r>
            <a:br/>
            <a:r>
              <a:rPr>
                <a:latin typeface="Times New Roman"/>
                <a:ea typeface="SimSun"/>
                <a:cs typeface="Times New Roman"/>
              </a:rPr>
              <a:t>非均匀模型不确定性。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9875520" cy="1554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论文假设 1 ≤ κ(x,a) ≤ Kmax：每个状态动作都有自己的不确定预算。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这时不能简单写成 α/K，因为沿途每一步 K 都可能不同。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Figure 1d 的 Kunfix∈[1,2] 就是让 κ 随状态动作变化，因此对应 NCVaR。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来源：p.3 Section IV；p.3 Assumption 1；p.5 Fig.1d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如何解决：NCVaR 分解把轨迹风险变成 Bellman 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p.4 Theorem 1；Bellman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6583680" cy="4114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V(x,y) = minπ NCVaRy,κ [Σ γᵗ C | x₀=x]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5120640" cy="1554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把置信水平 y 纳入状态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后继置信水平变成 y·ξ(x′)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Bellman 中对 ξ 做 worst-case 最大化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25880"/>
            <a:ext cx="3977639" cy="205740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5704" y="1435607"/>
            <a:ext cx="370332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关键洞察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5704" y="1737360"/>
            <a:ext cx="3703320" cy="15544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风险预算不是一次性用完，而是在状态转移中递归分配；这使 NCVaR 可以做动态规划。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60520"/>
            <a:ext cx="9692640" cy="658368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270248"/>
            <a:ext cx="9418319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讲解口径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4572000"/>
            <a:ext cx="9418319" cy="15544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NCVaR 的贡献不是换一个名字，而是让 decision-dependent uncertainty 可递归计算。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来源：p.4 Theorem 1；p.4 Bellman operator T[V](x,y)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连续置信水平如何计算：对 yV(x,y) 做线性插值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p.5 Eq.9-Eq.10；Algorithm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251960" cy="1737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Y 是连续空间，直接遍历不可行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采样 21 个 y 点并线性插值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关键是插值 yV(x,y)，保持凹性和可计算性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234440"/>
            <a:ext cx="5029200" cy="265176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24144" y="1344168"/>
            <a:ext cx="47548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Algorithm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144" y="1645920"/>
            <a:ext cx="4754880" cy="214883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1. 选择 Y(x), V0(x,y)</a:t>
            </a:r>
            <a:br/>
            <a:r>
              <a:rPr>
                <a:latin typeface="Times New Roman"/>
                <a:ea typeface="SimSun"/>
                <a:cs typeface="Times New Roman"/>
              </a:rPr>
              <a:t>2. 对所有 x,y 更新 TI[V]</a:t>
            </a:r>
            <a:br/>
            <a:r>
              <a:rPr>
                <a:latin typeface="Times New Roman"/>
                <a:ea typeface="SimSun"/>
                <a:cs typeface="Times New Roman"/>
              </a:rPr>
              <a:t>3. 收敛后用 V*(x,y) 构造 greedy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9738360" cy="658368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4453128"/>
            <a:ext cx="94640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为什么这么设计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4754880"/>
            <a:ext cx="9464040" cy="15544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插值让 NCVaR 的连续置信维度变成有限维近似，同时保留 Bellman 算子的收敛结构。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来源：p.5 Eq.9 interpolation；p.5 Algorithm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实验如何设计：用同一 GridWorld 比较四种不确定性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p.5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434840" cy="22860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64×53 网格，80 个障碍物</a:t>
            </a:r>
          </a:p>
          <a:p>
            <a:pPr>
              <a:spcAft>
                <a:spcPts val="500"/>
              </a:spcAft>
              <a:defRPr sz="142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目标方向 0.95，其余方向 0.05/3</a:t>
            </a:r>
          </a:p>
          <a:p>
            <a:pPr>
              <a:spcAft>
                <a:spcPts val="500"/>
              </a:spcAft>
              <a:defRPr sz="142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安全移动代价 1，碰撞代价 40</a:t>
            </a:r>
          </a:p>
          <a:p>
            <a:pPr>
              <a:spcAft>
                <a:spcPts val="500"/>
              </a:spcAft>
              <a:defRPr sz="142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起点 (60,50)，终点 (60,2)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234440"/>
            <a:ext cx="2697480" cy="105156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1371600"/>
            <a:ext cx="2377440" cy="822959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1a</a:t>
            </a:r>
          </a:p>
          <a:p>
            <a:pPr>
              <a:spcAft>
                <a:spcPts val="0"/>
              </a:spcAft>
              <a:defRPr sz="124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CVaR</a:t>
            </a:r>
            <a:br/>
            <a:r>
              <a:rPr>
                <a:latin typeface="Times New Roman"/>
                <a:ea typeface="SimSun"/>
                <a:cs typeface="Times New Roman"/>
              </a:rPr>
              <a:t>无不确定性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697480" cy="105156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4232" y="1371600"/>
            <a:ext cx="2377440" cy="822959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1b</a:t>
            </a:r>
          </a:p>
          <a:p>
            <a:pPr>
              <a:spcAft>
                <a:spcPts val="0"/>
              </a:spcAft>
              <a:defRPr sz="124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RN K=2</a:t>
            </a:r>
            <a:br/>
            <a:r>
              <a:rPr>
                <a:latin typeface="Times New Roman"/>
                <a:ea typeface="SimSun"/>
                <a:cs typeface="Times New Roman"/>
              </a:rPr>
              <a:t>α′=0.24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743200"/>
            <a:ext cx="2697480" cy="105156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6712" y="2880360"/>
            <a:ext cx="2377440" cy="822959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1c</a:t>
            </a:r>
          </a:p>
          <a:p>
            <a:pPr>
              <a:spcAft>
                <a:spcPts val="0"/>
              </a:spcAft>
              <a:defRPr sz="124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KL K=2</a:t>
            </a:r>
            <a:br/>
            <a:r>
              <a:rPr>
                <a:latin typeface="Times New Roman"/>
                <a:ea typeface="SimSun"/>
                <a:cs typeface="Times New Roman"/>
              </a:rPr>
              <a:t>EVaR α′=0.03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43200"/>
            <a:ext cx="2697480" cy="105156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880360"/>
            <a:ext cx="2377440" cy="822959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1d</a:t>
            </a:r>
          </a:p>
          <a:p>
            <a:pPr>
              <a:spcAft>
                <a:spcPts val="0"/>
              </a:spcAft>
              <a:defRPr sz="124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K∈[1,2]</a:t>
            </a:r>
            <a:br/>
            <a:r>
              <a:rPr>
                <a:latin typeface="Times New Roman"/>
                <a:ea typeface="SimSun"/>
                <a:cs typeface="Times New Roman"/>
              </a:rPr>
              <a:t>NCVaR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来源：p.5 Experiment；Fig.1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核心证据：不确定性设定改变最优路径与风险分布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p.5 Fig.1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6720840" cy="5400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3429000" cy="16002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蓝色表示低风险，黄色表示高风险</a:t>
            </a:r>
          </a:p>
          <a:p>
            <a:pPr>
              <a:spcAft>
                <a:spcPts val="500"/>
              </a:spcAft>
              <a:defRPr sz="135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红线为最优路径</a:t>
            </a:r>
          </a:p>
          <a:p>
            <a:pPr>
              <a:spcAft>
                <a:spcPts val="500"/>
              </a:spcAft>
              <a:defRPr sz="135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固定预算与决策相关预算均诱导更保守路径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840480"/>
            <a:ext cx="3429000" cy="1005840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64424" y="3950208"/>
            <a:ext cx="31546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读图重点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4424" y="4251960"/>
            <a:ext cx="315468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2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比较红线是否绕开</a:t>
            </a:r>
            <a:br/>
            <a:r>
              <a:rPr>
                <a:latin typeface="Times New Roman"/>
                <a:ea typeface="SimSun"/>
                <a:cs typeface="Times New Roman"/>
              </a:rPr>
              <a:t>障碍密集区；黄色</a:t>
            </a:r>
            <a:br/>
            <a:r>
              <a:rPr>
                <a:latin typeface="Times New Roman"/>
                <a:ea typeface="SimSun"/>
                <a:cs typeface="Times New Roman"/>
              </a:rPr>
              <a:t>风险区域是否扩大。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来源：p.5 Fig.1 原图；四个面板来自 PDF 第 5 页嵌入图像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验证逻辑：不是大规模 benchmark，而是机制性仿真实验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p.5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4572000" cy="21031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同一 GridWorld 控制环境变量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同一 α=0.48 比较不同 ambiguity set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路径和价值函数同时可视化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目标是验证算法能诱导风险规避策略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325880"/>
            <a:ext cx="4480560" cy="114300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35624" y="1435607"/>
            <a:ext cx="4206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为什么这样设计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5624" y="1737360"/>
            <a:ext cx="4206240" cy="6400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GridWorld 简单但可解释：障碍物提供高代价尾部事件，路径变化能直接展示风险偏好。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971800"/>
            <a:ext cx="4480560" cy="114300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3081528"/>
            <a:ext cx="4206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可信度边界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3383280"/>
            <a:ext cx="4206240" cy="6400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论文没有公开障碍物坐标、γ、κ(x,a) 细节，因此 Figure 1 更像概念验证而非可完全复现实验。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来源：p.5 Experiment；Fig.1 caption；本文 PDF 未提供原始实验代码和 κ(x,a)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意义与讨论：NCVaR 把决策相关不确定性带入风险敏感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p.5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2971800" cy="123444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481328"/>
            <a:ext cx="26974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解决了什么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783080"/>
            <a:ext cx="2697480" cy="7315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模型不确定 + 尾部风险</a:t>
            </a:r>
            <a:br/>
            <a:r>
              <a:rPr>
                <a:latin typeface="Times New Roman"/>
                <a:ea typeface="SimSun"/>
                <a:cs typeface="Times New Roman"/>
              </a:rPr>
              <a:t>统一到可计算框架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2971800" cy="123444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1481328"/>
            <a:ext cx="26974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为什么重要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1783080"/>
            <a:ext cx="2697480" cy="7315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真实决策会改变不确定性</a:t>
            </a:r>
            <a:br/>
            <a:r>
              <a:rPr>
                <a:latin typeface="Times New Roman"/>
                <a:ea typeface="SimSun"/>
                <a:cs typeface="Times New Roman"/>
              </a:rPr>
              <a:t>固定 K 不够表达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2971800" cy="123444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481328"/>
            <a:ext cx="269748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开放问题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2697480" cy="7315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40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κ 如何学习？</a:t>
            </a:r>
            <a:br/>
            <a:r>
              <a:rPr>
                <a:latin typeface="Times New Roman"/>
                <a:ea typeface="SimSun"/>
                <a:cs typeface="Times New Roman"/>
              </a:rPr>
              <a:t>如何扩展到大规模 RL？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9692640" cy="1463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理论意义：建立 robust CVaR 与风险度量之间的桥梁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算法意义：给出 NCVaR value iteration 与插值近似</a:t>
            </a:r>
          </a:p>
          <a:p>
            <a:pPr>
              <a:spcAft>
                <a:spcPts val="500"/>
              </a:spcAft>
              <a:defRPr sz="150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应用意义：为安全、金融、机器人等尾部风险场景提供框架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来源：p.5-p.6 Conclusion and Future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被追问时怎么回答：专业问题的边界在哪里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p.3-p.6 Method, Experiment,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98448"/>
            <a:ext cx="3337560" cy="1298448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408176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Q1：这是不是过度保守？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709928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是的，robust + CVaR 是双重保守。</a:t>
            </a:r>
            <a:br/>
            <a:r>
              <a:rPr>
                <a:latin typeface="Times New Roman"/>
                <a:ea typeface="SimSun"/>
                <a:cs typeface="Times New Roman"/>
              </a:rPr>
              <a:t>文章目标不是平均收益最大，</a:t>
            </a:r>
            <a:br/>
            <a:r>
              <a:rPr>
                <a:latin typeface="Times New Roman"/>
                <a:ea typeface="SimSun"/>
                <a:cs typeface="Times New Roman"/>
              </a:rPr>
              <a:t>而是控制模型误差下的尾部损失。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98448"/>
            <a:ext cx="3337560" cy="1298448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408176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Q2：κ(x,a) 怎么来？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709928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论文假设 κ 已给定，</a:t>
            </a:r>
            <a:br/>
            <a:r>
              <a:rPr>
                <a:latin typeface="Times New Roman"/>
                <a:ea typeface="SimSun"/>
                <a:cs typeface="Times New Roman"/>
              </a:rPr>
              <a:t>用于表达决策相关不确定性；</a:t>
            </a:r>
            <a:br/>
            <a:r>
              <a:rPr>
                <a:latin typeface="Times New Roman"/>
                <a:ea typeface="SimSun"/>
                <a:cs typeface="Times New Roman"/>
              </a:rPr>
              <a:t>学习 κ 是未来方向。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98448"/>
            <a:ext cx="3337560" cy="1298448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408176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Q3：为什么 GridWorld 足够？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1709928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它不是大规模 benchmark，</a:t>
            </a:r>
            <a:br/>
            <a:r>
              <a:rPr>
                <a:latin typeface="Times New Roman"/>
                <a:ea typeface="SimSun"/>
                <a:cs typeface="Times New Roman"/>
              </a:rPr>
              <a:t>而是机制性实验：</a:t>
            </a:r>
            <a:br/>
            <a:r>
              <a:rPr>
                <a:latin typeface="Times New Roman"/>
                <a:ea typeface="SimSun"/>
                <a:cs typeface="Times New Roman"/>
              </a:rPr>
              <a:t>路径变化能直接看出风险偏好。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3337560" cy="1298448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310128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Q4：EVaR 和 CVaR 差别？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3611880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CVaR 看尾部平均；</a:t>
            </a:r>
            <a:br/>
            <a:r>
              <a:rPr>
                <a:latin typeface="Times New Roman"/>
                <a:ea typeface="SimSun"/>
                <a:cs typeface="Times New Roman"/>
              </a:rPr>
              <a:t>EVaR 是更紧上界，</a:t>
            </a:r>
            <a:br/>
            <a:r>
              <a:rPr>
                <a:latin typeface="Times New Roman"/>
                <a:ea typeface="SimSun"/>
                <a:cs typeface="Times New Roman"/>
              </a:rPr>
              <a:t>对应 KL ambiguity 的对偶。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00400"/>
            <a:ext cx="3337560" cy="1298448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310128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Q5：算法能扩展吗？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611880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当前是 tabular value iteration。</a:t>
            </a:r>
            <a:br/>
            <a:r>
              <a:rPr>
                <a:latin typeface="Times New Roman"/>
                <a:ea typeface="SimSun"/>
                <a:cs typeface="Times New Roman"/>
              </a:rPr>
              <a:t>连续状态和深度 RL 需要近似，</a:t>
            </a:r>
            <a:br/>
            <a:r>
              <a:rPr>
                <a:latin typeface="Times New Roman"/>
                <a:ea typeface="SimSun"/>
                <a:cs typeface="Times New Roman"/>
              </a:rPr>
              <a:t>论文把它列为开放方向。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200400"/>
            <a:ext cx="3337560" cy="1298448"/>
          </a:xfrm>
          <a:prstGeom prst="roundRect">
            <a:avLst/>
          </a:prstGeom>
          <a:solidFill>
            <a:srgbClr val="F4EF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3" y="3310128"/>
            <a:ext cx="3063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Q6：复现为什么困难？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611880"/>
            <a:ext cx="3063240" cy="795527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8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PDF 未公开障碍坐标、γ、</a:t>
            </a:r>
            <a:br/>
            <a:r>
              <a:rPr>
                <a:latin typeface="Times New Roman"/>
                <a:ea typeface="SimSun"/>
                <a:cs typeface="Times New Roman"/>
              </a:rPr>
              <a:t>κ(x,a) 和原始代码。</a:t>
            </a:r>
            <a:br/>
            <a:r>
              <a:rPr>
                <a:latin typeface="Times New Roman"/>
                <a:ea typeface="SimSun"/>
                <a:cs typeface="Times New Roman"/>
              </a:rPr>
              <a:t>只能做机制复现。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来源：p.3-p.5 方法与实验；p.5-p.6 Conclusion；PDF 未给出原始代码和完整参数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22960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2600" b="1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最后带走三句话：所有听众都应理解的主线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76809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90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p.1-p.6 full paper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43000" cy="32004"/>
          </a:xfrm>
          <a:prstGeom prst="rect">
            <a:avLst/>
          </a:prstGeom>
          <a:solidFill>
            <a:srgbClr val="1D5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154680" cy="1325880"/>
          </a:xfrm>
          <a:prstGeom prst="roundRect">
            <a:avLst/>
          </a:prstGeom>
          <a:solidFill>
            <a:srgbClr val="E7EEEC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第一句话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1737360"/>
            <a:ext cx="28803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普通 RL 常默认模型准、看平均；</a:t>
            </a:r>
            <a:br/>
            <a:r>
              <a:rPr>
                <a:latin typeface="Times New Roman"/>
                <a:ea typeface="SimSun"/>
                <a:cs typeface="Times New Roman"/>
              </a:rPr>
              <a:t>但现实里模型会错，坏结果很贵。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54680" cy="1325880"/>
          </a:xfrm>
          <a:prstGeom prst="roundRect">
            <a:avLst/>
          </a:prstGeom>
          <a:solidFill>
            <a:srgbClr val="ECF2F5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第二句话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1737360"/>
            <a:ext cx="28803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本文把模型不确定和尾部风险</a:t>
            </a:r>
            <a:br/>
            <a:r>
              <a:rPr>
                <a:latin typeface="Times New Roman"/>
                <a:ea typeface="SimSun"/>
                <a:cs typeface="Times New Roman"/>
              </a:rPr>
              <a:t>合成 robust CVaR 问题，</a:t>
            </a:r>
            <a:br/>
            <a:r>
              <a:rPr>
                <a:latin typeface="Times New Roman"/>
                <a:ea typeface="SimSun"/>
                <a:cs typeface="Times New Roman"/>
              </a:rPr>
              <a:t>再用风险度量对偶化简。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154680" cy="1325880"/>
          </a:xfrm>
          <a:prstGeom prst="roundRect">
            <a:avLst/>
          </a:prstGeom>
          <a:solidFill>
            <a:srgbClr val="F2E8E4"/>
          </a:solidFill>
          <a:ln>
            <a:solidFill>
              <a:srgbClr val="D2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435607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000" b="1">
                <a:solidFill>
                  <a:srgbClr val="1D5C87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第三句话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1737360"/>
            <a:ext cx="2880360" cy="822959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1120" b="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当不确定性随决策变化时，</a:t>
            </a:r>
            <a:br/>
            <a:r>
              <a:rPr>
                <a:latin typeface="Times New Roman"/>
                <a:ea typeface="SimSun"/>
                <a:cs typeface="Times New Roman"/>
              </a:rPr>
              <a:t>提出 NCVaR，并给出</a:t>
            </a:r>
            <a:br/>
            <a:r>
              <a:rPr>
                <a:latin typeface="Times New Roman"/>
                <a:ea typeface="SimSun"/>
                <a:cs typeface="Times New Roman"/>
              </a:rPr>
              <a:t>可计算的 value iteration。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9966960" cy="14173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非专业理解：这是在“不确定地图 + 高事故成本”下找稳健路线。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专业理解：这是 robust risk-sensitive MDP 的风险度量等价与动态规划问题。</a:t>
            </a:r>
          </a:p>
          <a:p>
            <a:pPr>
              <a:spcAft>
                <a:spcPts val="500"/>
              </a:spcAft>
              <a:defRPr sz="1280">
                <a:solidFill>
                  <a:srgbClr val="1F2630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科研价值：把固定 ambiguity set 与 decision-dependent uncertainty 放进同一个叙事框架。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097280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defRPr sz="72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来源：全文综合；p.1 Introduction；p.3-p.4 Method；p.5 Experiment；p.5-p.6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73952"/>
            <a:ext cx="320040" cy="1828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>
              <a:defRPr sz="750" b="0">
                <a:solidFill>
                  <a:srgbClr val="5D6772"/>
                </a:solidFill>
              </a:defRPr>
            </a:pPr>
            <a:r>
              <a:rPr>
                <a:latin typeface="Times New Roman"/>
                <a:ea typeface="SimSun"/>
                <a:cs typeface="Times New Roman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